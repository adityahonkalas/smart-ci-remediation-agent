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932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dargyan/Documents/Semicolons/assets/semicolons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365760"/>
            <a:ext cx="5806440" cy="5486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0E224D">
              <a:alpha val="98000"/>
            </a:srgbClr>
          </a:solidFill>
          <a:ln w="12700">
            <a:solidFill>
              <a:srgbClr val="0E2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1520" y="7772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SEMICOLONS 2026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1155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Pitch Template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7830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2148840"/>
            <a:ext cx="4663440" cy="2697480"/>
          </a:xfrm>
          <a:prstGeom prst="roundRect">
            <a:avLst>
              <a:gd name="adj" fmla="val 2273"/>
            </a:avLst>
          </a:prstGeom>
          <a:solidFill>
            <a:srgbClr val="102754"/>
          </a:solidFill>
          <a:ln w="12700">
            <a:solidFill>
              <a:srgbClr val="FF5F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60120" y="31546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Semicolons 2026 Group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358444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 Remediation Agent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60120" y="406908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1300" dirty="0">
                <a:solidFill>
                  <a:srgbClr val="D8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help development teams automatically diagnose CI failures and generate AI‑powered fix recommendations, reducing debugging time and improving pipeline reliability.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9808" y="53492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" y="559612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Honkalas, Alisha Prabhu, Shashank Kumar, </a:t>
            </a:r>
            <a:r>
              <a:rPr lang="en-US" sz="1100" dirty="0" err="1">
                <a:solidFill>
                  <a:srgbClr val="D8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Yashansh</a:t>
            </a:r>
            <a:r>
              <a:rPr lang="en-US" sz="1100" dirty="0">
                <a:solidFill>
                  <a:srgbClr val="D8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Sharma, Smita Shinde, Anuj </a:t>
            </a:r>
            <a:r>
              <a:rPr lang="en-US" sz="1100" dirty="0" err="1">
                <a:solidFill>
                  <a:srgbClr val="D8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Lanjewar</a:t>
            </a:r>
            <a:r>
              <a:rPr lang="en-US" sz="1100" dirty="0">
                <a:solidFill>
                  <a:srgbClr val="D8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Arun Chakraborty, Abhishek Kushwaha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Semicolons 2026 | Internal participant template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356848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Semicolons 2026 | Internal participant template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8412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problem matters enough to solve?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921240" y="713232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FFF8F5"/>
          </a:solidFill>
          <a:ln w="12700">
            <a:solidFill>
              <a:srgbClr val="FF5F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12680" y="7863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783080"/>
            <a:ext cx="6492240" cy="429768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6112" y="192938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212848"/>
            <a:ext cx="5989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r>
              <a:rPr lang="en-US" sz="19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spend significant time manually debugging CI failures by analyzing complex logs, slowing down development and increasing inefficiency.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60120" y="3063240"/>
            <a:ext cx="5897880" cy="2734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190500" indent="-190500">
              <a:buSzPct val="100000"/>
              <a:buChar char="•"/>
            </a:pPr>
            <a:r>
              <a:rPr lang="en-US" sz="16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affected? </a:t>
            </a:r>
            <a:br>
              <a:rPr lang="en-US" sz="16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6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and DevOps engineers working with CI/CD pipelines across fast-paced software projects.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 today? </a:t>
            </a:r>
            <a:br>
              <a:rPr lang="en-US" sz="16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6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pipelines fail frequently, requiring manual log analysis and trial-and-error debugging.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big is the impact in time, cost, risk, or experience? </a:t>
            </a:r>
            <a:r>
              <a:rPr lang="en-US" sz="16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failures consumes significant time, delays releases, and reduces developer productivity.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this timely for Persistent or the client? </a:t>
            </a:r>
            <a:br>
              <a:rPr lang="en-US" sz="16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6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increasing CI/CD complexity and faster delivery demands, reducing debugging time is critical for efficiency and competitiveness.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0" y="1783080"/>
            <a:ext cx="3794760" cy="2249424"/>
          </a:xfrm>
          <a:prstGeom prst="roundRect">
            <a:avLst>
              <a:gd name="adj" fmla="val 1860"/>
            </a:avLst>
          </a:prstGeom>
          <a:solidFill>
            <a:srgbClr val="FFF8F5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662672" y="1929384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or signal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16952" y="2212848"/>
            <a:ext cx="3465576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spend significant time manually analyzing CI logs to diagnose failures.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leads to slower releases, reduced productivity, and increased operational costs.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failures will continue to delay deployments and reduce software delivery efficiency.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98080" y="4160520"/>
            <a:ext cx="3794760" cy="1920240"/>
          </a:xfrm>
          <a:prstGeom prst="roundRect">
            <a:avLst>
              <a:gd name="adj" fmla="val 1739"/>
            </a:avLst>
          </a:prstGeom>
          <a:solidFill>
            <a:srgbClr val="F6F9FC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62672" y="4178808"/>
            <a:ext cx="3465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cue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26680" y="4434840"/>
            <a:ext cx="32918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CI failure can force developers to spend hours manually scanning logs and guessing fixes — this repetitive debugging is a major productivity bottleneck.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56848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Semicolons 2026 | Internal participant template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8412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your solution work?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921240" y="713232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FFF8F5"/>
          </a:solidFill>
          <a:ln w="12700">
            <a:solidFill>
              <a:srgbClr val="FF5F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12680" y="7863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783080"/>
            <a:ext cx="4572000" cy="4480560"/>
          </a:xfrm>
          <a:prstGeom prst="roundRect">
            <a:avLst>
              <a:gd name="adj" fmla="val 816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6112" y="1929384"/>
            <a:ext cx="4242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summary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219456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423160"/>
            <a:ext cx="4069080" cy="27168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CI pipeline failure triggers automatic log collection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Diagnosis Agent processes logs and identifies root cause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LLM generates multiple ranked fix recommendations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Developers validate fixes and feedback improves future accuracy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77840" y="1700784"/>
            <a:ext cx="5669280" cy="4480560"/>
          </a:xfrm>
          <a:prstGeom prst="roundRect">
            <a:avLst>
              <a:gd name="adj" fmla="val 816"/>
            </a:avLst>
          </a:prstGeom>
          <a:solidFill>
            <a:srgbClr val="F6F9FC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42432" y="1929384"/>
            <a:ext cx="5340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snapshot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7880" y="2468880"/>
            <a:ext cx="132588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89320" y="2596895"/>
            <a:ext cx="1143000" cy="60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/ GitHub Actions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35240" y="2468880"/>
            <a:ext cx="132588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26680" y="2596896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Pipeline 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72600" y="2468880"/>
            <a:ext cx="132588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64040" y="2596896"/>
            <a:ext cx="11430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(Log Collector)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35240" y="3977640"/>
            <a:ext cx="132588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26680" y="4105656"/>
            <a:ext cx="1143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1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 + Ranked Fix Suggestions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09760" y="3977640"/>
            <a:ext cx="1188720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br>
              <a:rPr lang="en-US" sz="1100" b="1" dirty="0"/>
            </a:br>
            <a:r>
              <a:rPr lang="en-US" sz="1100" b="1" dirty="0"/>
              <a:t>  Diagnosis Component</a:t>
            </a:r>
          </a:p>
        </p:txBody>
      </p:sp>
      <p:sp>
        <p:nvSpPr>
          <p:cNvPr id="25" name="Text 23"/>
          <p:cNvSpPr/>
          <p:nvPr/>
        </p:nvSpPr>
        <p:spPr>
          <a:xfrm>
            <a:off x="9464040" y="4103855"/>
            <a:ext cx="1143000" cy="7241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69480" y="2816352"/>
            <a:ext cx="384048" cy="201168"/>
          </a:xfrm>
          <a:prstGeom prst="chevron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006840" y="2816352"/>
            <a:ext cx="384048" cy="201168"/>
          </a:xfrm>
          <a:prstGeom prst="chevron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870448" y="525780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356848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Shape 25">
            <a:extLst>
              <a:ext uri="{FF2B5EF4-FFF2-40B4-BE49-F238E27FC236}">
                <a16:creationId xmlns:a16="http://schemas.microsoft.com/office/drawing/2014/main" id="{C8939543-1028-4C24-8396-8B104E24A43C}"/>
              </a:ext>
            </a:extLst>
          </p:cNvPr>
          <p:cNvSpPr/>
          <p:nvPr/>
        </p:nvSpPr>
        <p:spPr>
          <a:xfrm>
            <a:off x="9006840" y="4334256"/>
            <a:ext cx="384048" cy="201168"/>
          </a:xfrm>
          <a:prstGeom prst="chevron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5B6749BA-E12D-C2EF-3C64-48DA0A7EDA9B}"/>
              </a:ext>
            </a:extLst>
          </p:cNvPr>
          <p:cNvSpPr/>
          <p:nvPr/>
        </p:nvSpPr>
        <p:spPr>
          <a:xfrm rot="5400000">
            <a:off x="9824452" y="3602736"/>
            <a:ext cx="384048" cy="201168"/>
          </a:xfrm>
          <a:prstGeom prst="chevron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Semicolons 2026 | Internal participant template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8412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value does this create?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921240" y="713232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FFF8F5"/>
          </a:solidFill>
          <a:ln w="12700">
            <a:solidFill>
              <a:srgbClr val="FF5F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12680" y="7863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224028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9264" y="2112264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9264" y="2404872"/>
            <a:ext cx="1947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algn="ctr"/>
            <a:r>
              <a:rPr lang="en-US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CI failure resolution (40–60% reduction in debugging time)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46120" y="1965960"/>
            <a:ext cx="224028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92424" y="2112264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value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92424" y="2404872"/>
            <a:ext cx="1947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algn="ctr"/>
            <a:r>
              <a:rPr lang="en-US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get instant root cause insights and ready-to-use fix suggestions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0" y="1965960"/>
            <a:ext cx="224028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15584" y="2112264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value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15584" y="2404872"/>
            <a:ext cx="1947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algn="ctr"/>
            <a:r>
              <a:rPr lang="en-US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manual debugging effort and improved CI pipeline reliability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092440" y="1965960"/>
            <a:ext cx="224028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38744" y="2112264"/>
            <a:ext cx="1947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value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38744" y="2441448"/>
            <a:ext cx="1947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AI-driven CI debugging framework across multiple projects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3657600"/>
            <a:ext cx="5212080" cy="214884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87552" y="3803904"/>
            <a:ext cx="4882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story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151376"/>
            <a:ext cx="47548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time spent on manual log analysis and debugging.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developer productivity and speeds up release cycles.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consistent and scalable CI troubleshooting across teams.</a:t>
            </a:r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Enhances developer experience and reduces repeated failures.</a:t>
            </a:r>
          </a:p>
          <a:p>
            <a:pPr marL="190500" indent="-190500">
              <a:buSzPct val="100000"/>
              <a:buChar char="•"/>
            </a:pP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3657600"/>
            <a:ext cx="4937760" cy="2148840"/>
          </a:xfrm>
          <a:prstGeom prst="roundRect">
            <a:avLst>
              <a:gd name="adj" fmla="val 1702"/>
            </a:avLst>
          </a:prstGeom>
          <a:solidFill>
            <a:srgbClr val="FFF8F5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73952" y="3803904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you can mention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406908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real GitHub Actions logs from open-source repositories.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40–60% reduction in debugging time through automation.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CI success rate by providing structured RCA and ranked fixes.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356848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Semicolons 2026 | Internal participant template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8412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approach stands out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921240" y="713232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FFF8F5"/>
          </a:solidFill>
          <a:ln w="12700">
            <a:solidFill>
              <a:srgbClr val="FF5F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12680" y="7863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828800"/>
            <a:ext cx="3657600" cy="429768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197510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with today's way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2331720"/>
            <a:ext cx="32461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failures are handled through manual log analysis and trial‑and‑error debugging.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CI tools only report errors but do not provide actionable fixes.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rely on individual experience and external searching for solutions.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26280" y="1828800"/>
            <a:ext cx="3657600" cy="4297680"/>
          </a:xfrm>
          <a:prstGeom prst="roundRect">
            <a:avLst>
              <a:gd name="adj" fmla="val 1000"/>
            </a:avLst>
          </a:prstGeom>
          <a:solidFill>
            <a:srgbClr val="FFF8F5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90872" y="197510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differentiators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36592" y="2331719"/>
            <a:ext cx="3246120" cy="24758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AI system that mimics real developer debugging workflows.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log analysis, external knowledge, and LLM-based reasoning.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now due to availability of advanced LLMs and open-source CI data.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advantage: scalable solution aligned with enterprise DevOps ecosystems.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75320" y="1828800"/>
            <a:ext cx="2926080" cy="4297680"/>
          </a:xfrm>
          <a:prstGeom prst="roundRect">
            <a:avLst>
              <a:gd name="adj" fmla="val 1250"/>
            </a:avLst>
          </a:prstGeom>
          <a:solidFill>
            <a:srgbClr val="F6F9FC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39912" y="197510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bites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85632" y="2331719"/>
            <a:ext cx="2514600" cy="12615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 lang="en-US" sz="16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CI assistant that not only detects failures but understands, researches, and recommends fixes automatically.</a:t>
            </a:r>
            <a:br>
              <a:rPr lang="en-US" sz="16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sz="16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85632" y="362989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85632" y="4709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56848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CD8FB450-A6A1-D724-A9E9-878E17103391}"/>
              </a:ext>
            </a:extLst>
          </p:cNvPr>
          <p:cNvSpPr/>
          <p:nvPr/>
        </p:nvSpPr>
        <p:spPr>
          <a:xfrm>
            <a:off x="8427720" y="3940786"/>
            <a:ext cx="2926080" cy="128293"/>
          </a:xfrm>
          <a:prstGeom prst="roundRect">
            <a:avLst>
              <a:gd name="adj" fmla="val 1250"/>
            </a:avLst>
          </a:prstGeom>
          <a:solidFill>
            <a:srgbClr val="F6F9FC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6473952"/>
            <a:ext cx="11109960" cy="0"/>
          </a:xfrm>
          <a:prstGeom prst="line">
            <a:avLst/>
          </a:prstGeom>
          <a:noFill/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Semicolons 2026 | Internal participant template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8412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 show in the live walkthrough?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9921240" y="713232"/>
            <a:ext cx="1371600" cy="347472"/>
          </a:xfrm>
          <a:prstGeom prst="roundRect">
            <a:avLst>
              <a:gd name="adj" fmla="val 13158"/>
            </a:avLst>
          </a:prstGeom>
          <a:solidFill>
            <a:srgbClr val="FFF8F5"/>
          </a:solidFill>
          <a:ln w="12700">
            <a:solidFill>
              <a:srgbClr val="FF5F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12680" y="7863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1828800"/>
            <a:ext cx="10972800" cy="429768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1975104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storyboard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2423160"/>
            <a:ext cx="2331720" cy="2578608"/>
          </a:xfrm>
          <a:prstGeom prst="roundRect">
            <a:avLst>
              <a:gd name="adj" fmla="val 1569"/>
            </a:avLst>
          </a:prstGeom>
          <a:solidFill>
            <a:srgbClr val="F6F9FC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61288" y="257860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5603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[Start state]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97864" y="2999232"/>
            <a:ext cx="201168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User: Developer using GitHub Actions</a:t>
            </a:r>
            <a:b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1200" dirty="0">
              <a:solidFill>
                <a:srgbClr val="091D4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CI pipeline has failed and logs are large, noisy, and hard to debug.</a:t>
            </a:r>
            <a:b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1200" dirty="0">
              <a:solidFill>
                <a:srgbClr val="091D4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spends a lot of time manually scanning logs and searching for solutions.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0" y="3493008"/>
            <a:ext cx="310896" cy="201168"/>
          </a:xfrm>
          <a:prstGeom prst="chevron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49040" y="2423160"/>
            <a:ext cx="2331720" cy="2578608"/>
          </a:xfrm>
          <a:prstGeom prst="roundRect">
            <a:avLst>
              <a:gd name="adj" fmla="val 1569"/>
            </a:avLst>
          </a:prstGeom>
          <a:solidFill>
            <a:srgbClr val="F6F9FC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58768" y="257860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69080" y="25603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95344" y="2999232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opens the CI failure in GitHub Actions</a:t>
            </a:r>
          </a:p>
          <a:p>
            <a: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the Smart CI Remediation Agent</a:t>
            </a:r>
          </a:p>
          <a:p>
            <a: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ingests logs and runs:</a:t>
            </a:r>
          </a:p>
          <a:p>
            <a:endParaRPr lang="en-US" sz="1200" dirty="0">
              <a:solidFill>
                <a:srgbClr val="091D4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Agent (log parsing + RCA).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3493008"/>
            <a:ext cx="310896" cy="201168"/>
          </a:xfrm>
          <a:prstGeom prst="chevron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46520" y="2423160"/>
            <a:ext cx="2331720" cy="2578608"/>
          </a:xfrm>
          <a:prstGeom prst="roundRect">
            <a:avLst>
              <a:gd name="adj" fmla="val 1569"/>
            </a:avLst>
          </a:prstGeom>
          <a:solidFill>
            <a:srgbClr val="FFF8F5"/>
          </a:solidFill>
          <a:ln w="12700">
            <a:solidFill>
              <a:srgbClr val="FF5F0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56248" y="257860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25603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[Magic moment]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92824" y="2999232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evidence lines directly from logs</a:t>
            </a:r>
          </a:p>
          <a:p>
            <a: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context from similar GitHub failures.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869680" y="3493008"/>
            <a:ext cx="310896" cy="201168"/>
          </a:xfrm>
          <a:prstGeom prst="chevron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44000" y="2423160"/>
            <a:ext cx="2331720" cy="2578608"/>
          </a:xfrm>
          <a:prstGeom prst="roundRect">
            <a:avLst>
              <a:gd name="adj" fmla="val 1569"/>
            </a:avLst>
          </a:prstGeom>
          <a:solidFill>
            <a:srgbClr val="F6F9FC"/>
          </a:solidFill>
          <a:ln w="12700">
            <a:solidFill>
              <a:srgbClr val="E7EC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253728" y="257860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464040" y="256032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[Outcome]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90304" y="2999232"/>
            <a:ext cx="2011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quickly applies suggested fix.</a:t>
            </a:r>
          </a:p>
          <a:p>
            <a:r>
              <a:rPr lang="en-US" sz="1200" dirty="0">
                <a:solidFill>
                  <a:srgbClr val="09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pipeline passes successfully with RCA report and fix suggestions.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53492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56848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F5F07"/>
          </a:solidFill>
          <a:ln w="12700">
            <a:solidFill>
              <a:srgbClr val="FF5F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9808" y="822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F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STRONG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1234440"/>
            <a:ext cx="5257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failures are hard to debug due to noisy logs; our AI agent pinpoints the real root cause and recommends fixes instantly, saving developer time and improving pipeline reliability.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2937164"/>
            <a:ext cx="4937760" cy="84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500" dirty="0">
                <a:solidFill>
                  <a:srgbClr val="D8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final ask: Looking for opportunities to pilot this on real-world CI workflows.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8660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59168" y="1572768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57150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D8E1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[Aditya Honkalas] | [IBM Cloud BU] | [aditya_honkalas@persistent.com]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64465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Semicolons 2026 | Internal participant template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356848" y="64922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16022C0333654DBDDB1A6A2FD75EC2" ma:contentTypeVersion="8" ma:contentTypeDescription="Create a new document." ma:contentTypeScope="" ma:versionID="c3bd7fe7c635901ec96b0093de57523a">
  <xsd:schema xmlns:xsd="http://www.w3.org/2001/XMLSchema" xmlns:xs="http://www.w3.org/2001/XMLSchema" xmlns:p="http://schemas.microsoft.com/office/2006/metadata/properties" xmlns:ns2="f9a4ceb7-a897-49e3-97bf-db3c5622d901" targetNamespace="http://schemas.microsoft.com/office/2006/metadata/properties" ma:root="true" ma:fieldsID="e063d6aeb98bd5c66ed45f0003b57259" ns2:_="">
    <xsd:import namespace="f9a4ceb7-a897-49e3-97bf-db3c5622d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a4ceb7-a897-49e3-97bf-db3c5622d9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89F15B-D682-4A3A-AA73-B5B7D97A45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160E9A7-28A2-4F06-B3A8-E22F0350C3A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F7C050A-3762-4FA6-8566-F3E316BD56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a4ceb7-a897-49e3-97bf-db3c5622d9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1747</TotalTime>
  <Words>845</Words>
  <Application>Microsoft Office PowerPoint</Application>
  <PresentationFormat>Widescreen</PresentationFormat>
  <Paragraphs>119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Persistent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Semicolons 2026 Solution Pitch Template</dc:title>
  <dc:subject>Semicolons 2026 Solution Pitch Template</dc:subject>
  <dc:creator>OpenAI Codex</dc:creator>
  <cp:lastModifiedBy>Aditya Honkalas</cp:lastModifiedBy>
  <cp:revision>26</cp:revision>
  <dcterms:created xsi:type="dcterms:W3CDTF">2026-05-14T09:23:00Z</dcterms:created>
  <dcterms:modified xsi:type="dcterms:W3CDTF">2026-05-16T19:05:11Z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0x0101009A16022C0333654DBDDB1A6A2FD75EC2</vt:lpwstr>
  </property>
</Properties>
</file>